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2F0E8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2F0E8"/>
                </a:solidFill>
                <a:latin typeface="Calibri"/>
              </a:rPr>
              <a:t>Penalty decay (blocks held)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Penalty %</c:v>
                </c:pt>
              </c:strCache>
            </c:strRef>
          </c:tx>
          <c:spPr>
            <a:solidFill>
              <a:srgbClr val="FF7A45"/>
            </a:solidFill>
            <a:ln w="31750" cap="flat">
              <a:solidFill>
                <a:srgbClr val="FF7A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2F0E8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F7A45"/>
              </a:solidFill>
              <a:ln w="9525" cap="flat">
                <a:solidFill>
                  <a:srgbClr val="FF7A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0</c:v>
                  </c:pt>
                  <c:pt idx="1">
                    <c:v>2</c:v>
                  </c:pt>
                  <c:pt idx="2">
                    <c:v>5</c:v>
                  </c:pt>
                  <c:pt idx="3">
                    <c:v>10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64</c:v>
                </c:pt>
                <c:pt idx="2">
                  <c:v>40</c:v>
                </c:pt>
                <c:pt idx="3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2F0E8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8FA69B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8FA69B"/>
                    </a:solidFill>
                    <a:latin typeface="Arial"/>
                  </a:rPr>
                  <a:t>blocks held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69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4312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8FA69B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8FA69B"/>
                    </a:solidFill>
                    <a:latin typeface="Arial"/>
                  </a:rPr>
                  <a:t>penalty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69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1A16"/>
        </a:solidFill>
        <a:ln>
          <a:noFill/>
        </a:ln>
        <a:effectLst/>
      </c:spPr>
    </c:plotArea>
    <c:plotVisOnly val="1"/>
    <c:dispBlanksAs val="span"/>
  </c:chart>
  <c:spPr>
    <a:solidFill>
      <a:srgbClr val="0B0F0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CUT TO LIVE SCREEN RECORDING HERE: show the real app, connect wallet, run one real small swap live on camera if possible. If not live, show a recording of one of the two real transactions above being executed.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20040" cy="320040"/>
          </a:xfrm>
          <a:prstGeom prst="rect">
            <a:avLst/>
          </a:prstGeom>
          <a:solidFill>
            <a:srgbClr val="1A2320"/>
          </a:solidFill>
          <a:ln w="9525">
            <a:solidFill>
              <a:srgbClr val="2431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658368"/>
            <a:ext cx="210312" cy="0"/>
          </a:xfrm>
          <a:prstGeom prst="line">
            <a:avLst/>
          </a:prstGeom>
          <a:noFill/>
          <a:ln w="15875">
            <a:solidFill>
              <a:srgbClr val="F2F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" y="758952"/>
            <a:ext cx="210312" cy="0"/>
          </a:xfrm>
          <a:prstGeom prst="line">
            <a:avLst/>
          </a:prstGeom>
          <a:noFill/>
          <a:ln w="15875">
            <a:solidFill>
              <a:srgbClr val="00E0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Ballast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readings. When they </a:t>
            </a:r>
            <a:pPr indent="0" marL="0">
              <a:buNone/>
            </a:pPr>
            <a:r>
              <a:rPr lang="en-US" sz="2600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disagree</a:t>
            </a:r>
            <a:pPr indent="0" marL="0">
              <a:buNone/>
            </a:pPr>
            <a:r>
              <a:rPr lang="en-US" sz="2600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that's the alarm.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77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Uniswap v4 hook that prices toxic order flow, taxes JIT liquidity, and backs both with a three-layer oracle trust stack.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709160"/>
            <a:ext cx="3017520" cy="411480"/>
          </a:xfrm>
          <a:prstGeom prst="rect">
            <a:avLst/>
          </a:prstGeom>
          <a:ln w="12700">
            <a:solidFill>
              <a:srgbClr val="2431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4892040"/>
            <a:ext cx="73152" cy="73152"/>
          </a:xfrm>
          <a:prstGeom prst="ellipse">
            <a:avLst/>
          </a:prstGeom>
          <a:solidFill>
            <a:srgbClr val="00E0A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96112" y="4709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UHI10 · fair-flow track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532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114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989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 passing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5532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384,000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5989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invariant ops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5532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5989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defenses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5532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5989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bugs found live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320040"/>
          </a:xfrm>
          <a:prstGeom prst="rect">
            <a:avLst/>
          </a:prstGeom>
          <a:solidFill>
            <a:srgbClr val="1A2320"/>
          </a:solidFill>
          <a:ln w="9525">
            <a:solidFill>
              <a:srgbClr val="2431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566928"/>
            <a:ext cx="210312" cy="0"/>
          </a:xfrm>
          <a:prstGeom prst="line">
            <a:avLst/>
          </a:prstGeom>
          <a:noFill/>
          <a:ln w="15875">
            <a:solidFill>
              <a:srgbClr val="F2F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" y="667512"/>
            <a:ext cx="210312" cy="0"/>
          </a:xfrm>
          <a:prstGeom prst="line">
            <a:avLst/>
          </a:prstGeom>
          <a:noFill/>
          <a:ln w="15875">
            <a:solidFill>
              <a:srgbClr val="00E0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bot exploit a pool without ever saying what they're doing.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303520" cy="2834640"/>
          </a:xfrm>
          <a:prstGeom prst="rect">
            <a:avLst/>
          </a:prstGeom>
          <a:solidFill>
            <a:srgbClr val="131A16"/>
          </a:solidFill>
          <a:ln w="12700">
            <a:solidFill>
              <a:srgbClr val="2431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880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Toxic order flow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429000"/>
            <a:ext cx="4663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sandwich attacker pushes the pool's price away from the truth, trades against you at the distorted price, then lets the market correct it back — pocketing the difference.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2651760"/>
            <a:ext cx="5303520" cy="2834640"/>
          </a:xfrm>
          <a:prstGeom prst="rect">
            <a:avLst/>
          </a:prstGeom>
          <a:solidFill>
            <a:srgbClr val="131A16"/>
          </a:solidFill>
          <a:ln w="12700">
            <a:solidFill>
              <a:srgbClr val="2431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2880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JIT liquidity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429000"/>
            <a:ext cx="4663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bot adds a large, precisely-ranged position moments before a big swap, captures a disproportionate share of its fee, and withdraws inside the same block — near-zero risk taken on.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715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Neither reveals intent. What gives both away is the shape of the activity — if something is actually watching for it.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Ballast — UHI10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320040"/>
          </a:xfrm>
          <a:prstGeom prst="rect">
            <a:avLst/>
          </a:prstGeom>
          <a:solidFill>
            <a:srgbClr val="1A2320"/>
          </a:solidFill>
          <a:ln w="9525">
            <a:solidFill>
              <a:srgbClr val="2431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566928"/>
            <a:ext cx="210312" cy="0"/>
          </a:xfrm>
          <a:prstGeom prst="line">
            <a:avLst/>
          </a:prstGeom>
          <a:noFill/>
          <a:ln w="15875">
            <a:solidFill>
              <a:srgbClr val="F2F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" y="667512"/>
            <a:ext cx="210312" cy="0"/>
          </a:xfrm>
          <a:prstGeom prst="line">
            <a:avLst/>
          </a:prstGeom>
          <a:noFill/>
          <a:ln w="15875">
            <a:solidFill>
              <a:srgbClr val="00E0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EXISTING SOLUTIONS DON'T WORK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real approaches. Each breaks in a specific, provable way.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0515600" cy="822960"/>
          </a:xfrm>
          <a:prstGeom prst="rect">
            <a:avLst/>
          </a:prstGeom>
          <a:solidFill>
            <a:srgbClr val="131A16"/>
          </a:solidFill>
          <a:ln w="9525">
            <a:solidFill>
              <a:srgbClr val="2431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965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/ flat fee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19659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the same rate regardless of toxicity — no defense at all.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2313432"/>
            <a:ext cx="128016" cy="128016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926080"/>
            <a:ext cx="10515600" cy="822960"/>
          </a:xfrm>
          <a:prstGeom prst="rect">
            <a:avLst/>
          </a:prstGeom>
          <a:solidFill>
            <a:srgbClr val="131A16"/>
          </a:solidFill>
          <a:ln w="9525">
            <a:solidFill>
              <a:srgbClr val="2431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926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Volatility-only fee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29260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Direction-blind by construction: charges a toxic swap and a genuinely corrective one identically.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273552"/>
            <a:ext cx="128016" cy="128016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886200"/>
            <a:ext cx="10515600" cy="822960"/>
          </a:xfrm>
          <a:prstGeom prst="rect">
            <a:avLst/>
          </a:prstGeom>
          <a:solidFill>
            <a:srgbClr val="131A16"/>
          </a:solidFill>
          <a:ln w="9525">
            <a:solidFill>
              <a:srgbClr val="2431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3886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Size-only fee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38862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real, oracle-verified toxicity when the swap isn't unusually large.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" y="4233672"/>
            <a:ext cx="128016" cy="128016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846320"/>
            <a:ext cx="10515600" cy="822960"/>
          </a:xfrm>
          <a:prstGeom prst="rect">
            <a:avLst/>
          </a:prstGeom>
          <a:solidFill>
            <a:srgbClr val="131A16"/>
          </a:solidFill>
          <a:ln w="9525">
            <a:solidFill>
              <a:srgbClr val="2431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846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Oracle-pegged AMM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48463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mispricing, but the whole system's safety now depends on one oracle never being wrong.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94360" y="5193792"/>
            <a:ext cx="128016" cy="128016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852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Ballast: </a:t>
            </a:r>
            <a:pPr indent="0" marL="0">
              <a:buNone/>
            </a:pPr>
            <a:r>
              <a:rPr lang="en-US" sz="1500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independent signals, JIT priced separately, and three layers so no single oracle is a point of failure.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Ballast — UHI10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320040"/>
          </a:xfrm>
          <a:prstGeom prst="rect">
            <a:avLst/>
          </a:prstGeom>
          <a:solidFill>
            <a:srgbClr val="1A2320"/>
          </a:solidFill>
          <a:ln w="9525">
            <a:solidFill>
              <a:srgbClr val="2431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566928"/>
            <a:ext cx="210312" cy="0"/>
          </a:xfrm>
          <a:prstGeom prst="line">
            <a:avLst/>
          </a:prstGeom>
          <a:noFill/>
          <a:ln w="15875">
            <a:solidFill>
              <a:srgbClr val="F2F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" y="667512"/>
            <a:ext cx="210312" cy="0"/>
          </a:xfrm>
          <a:prstGeom prst="line">
            <a:avLst/>
          </a:prstGeom>
          <a:noFill/>
          <a:ln w="15875">
            <a:solidFill>
              <a:srgbClr val="00E0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layers, one hook.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oracle-safety layers protect Signal 1's one real dependency. Signal 2 and JIT run independently, alongside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2514600"/>
            <a:ext cx="3840480" cy="3840480"/>
          </a:xfrm>
          <a:prstGeom prst="ellipse">
            <a:avLst/>
          </a:prstGeom>
          <a:ln w="22225">
            <a:solidFill>
              <a:srgbClr val="2431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0200" y="3017520"/>
            <a:ext cx="2834640" cy="2834640"/>
          </a:xfrm>
          <a:prstGeom prst="ellipse">
            <a:avLst/>
          </a:prstGeom>
          <a:ln w="22225">
            <a:solidFill>
              <a:srgbClr val="2DD4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3520440"/>
            <a:ext cx="1828800" cy="1828800"/>
          </a:xfrm>
          <a:prstGeom prst="ellipse">
            <a:avLst/>
          </a:prstGeom>
          <a:ln w="22225">
            <a:solidFill>
              <a:srgbClr val="F2C9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3931920"/>
            <a:ext cx="1005840" cy="1005840"/>
          </a:xfrm>
          <a:prstGeom prst="ellipse">
            <a:avLst/>
          </a:prstGeom>
          <a:solidFill>
            <a:srgbClr val="00E0A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514600" y="427024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1031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1 — Timelock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239572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delay, always on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2788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2 — OracleGuardian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308152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cross-chain, autonomous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34747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3 — ZKPriceGuardian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376732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zkTLS price check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0" y="4434840"/>
            <a:ext cx="2743200" cy="822960"/>
          </a:xfrm>
          <a:prstGeom prst="rect">
            <a:avLst/>
          </a:prstGeom>
          <a:solidFill>
            <a:srgbClr val="131A16"/>
          </a:solidFill>
          <a:ln w="15875">
            <a:solidFill>
              <a:srgbClr val="00E0A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0" y="4526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4846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impact — independent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95360" y="4434840"/>
            <a:ext cx="2834640" cy="822960"/>
          </a:xfrm>
          <a:prstGeom prst="rect">
            <a:avLst/>
          </a:prstGeom>
          <a:solidFill>
            <a:srgbClr val="00E0A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595360" y="4709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FEE: 0.15% – 1.50%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0" y="5577840"/>
            <a:ext cx="2743200" cy="777240"/>
          </a:xfrm>
          <a:prstGeom prst="rect">
            <a:avLst/>
          </a:prstGeom>
          <a:solidFill>
            <a:srgbClr val="131A16"/>
          </a:solidFill>
          <a:ln w="15875">
            <a:solidFill>
              <a:srgbClr val="FF7A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0" y="5669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Liquidity event → JIT check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5989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same-block?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95360" y="5577840"/>
            <a:ext cx="2834640" cy="7772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595360" y="5760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PENALTY: 80% → 0%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Ballast — UHI10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320040"/>
          </a:xfrm>
          <a:prstGeom prst="rect">
            <a:avLst/>
          </a:prstGeom>
          <a:solidFill>
            <a:srgbClr val="1A2320"/>
          </a:solidFill>
          <a:ln w="9525">
            <a:solidFill>
              <a:srgbClr val="2431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566928"/>
            <a:ext cx="210312" cy="0"/>
          </a:xfrm>
          <a:prstGeom prst="line">
            <a:avLst/>
          </a:prstGeom>
          <a:noFill/>
          <a:ln w="15875">
            <a:solidFill>
              <a:srgbClr val="F2F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" y="667512"/>
            <a:ext cx="210312" cy="0"/>
          </a:xfrm>
          <a:prstGeom prst="line">
            <a:avLst/>
          </a:prstGeom>
          <a:noFill/>
          <a:ln w="15875">
            <a:solidFill>
              <a:srgbClr val="00E0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TWO SIGNALS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 via noisy-OR — a real bug we found and fixed.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303520" cy="1920240"/>
          </a:xfrm>
          <a:prstGeom prst="rect">
            <a:avLst/>
          </a:prstGeom>
          <a:solidFill>
            <a:srgbClr val="131A16"/>
          </a:solidFill>
          <a:ln w="12700">
            <a:solidFill>
              <a:srgbClr val="2431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148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E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1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97680" y="2176272"/>
            <a:ext cx="1417320" cy="292608"/>
          </a:xfrm>
          <a:prstGeom prst="rect">
            <a:avLst/>
          </a:prstGeom>
          <a:solidFill>
            <a:srgbClr val="00E0A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97680" y="21762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0F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LIVE, VERIFIED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560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pool price against Chainlink. Widens the gap → taxed. Closes it → discounted.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383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score1 = min(dev, cap) / cap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965960"/>
            <a:ext cx="5303520" cy="1920240"/>
          </a:xfrm>
          <a:prstGeom prst="rect">
            <a:avLst/>
          </a:prstGeom>
          <a:solidFill>
            <a:srgbClr val="131A16"/>
          </a:solidFill>
          <a:ln w="12700">
            <a:solidFill>
              <a:srgbClr val="2431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2148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E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921240" y="2176272"/>
            <a:ext cx="1417320" cy="292608"/>
          </a:xfrm>
          <a:prstGeom prst="rect">
            <a:avLst/>
          </a:prstGeom>
          <a:solidFill>
            <a:srgbClr val="00E0A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21240" y="21762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0F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LIVE, VERIFIED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560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this swap's impact against the pool's own recent baseline — self-calibrating, no fixed threshold.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383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score2 = min(ratio/mult, 1)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10515600" cy="1417320"/>
          </a:xfrm>
          <a:prstGeom prst="rect">
            <a:avLst/>
          </a:prstGeom>
          <a:solidFill>
            <a:srgbClr val="1A2320"/>
          </a:solidFill>
          <a:ln w="15875">
            <a:solidFill>
              <a:srgbClr val="FF7A4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251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bug, found and fixed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5720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 version averaged the two scores — testing showed this diluted a maximally-confident signal by half. Fixed to noisy-OR: combined = 1 − (1−s1)(1−s2). Verified with exact numbers before and after.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760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parity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035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0.30%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4160520" y="5760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Corrective, not excessive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160520" y="6035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0.15%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5760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divergence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6035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1.50%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Ballast — UHI10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320040"/>
          </a:xfrm>
          <a:prstGeom prst="rect">
            <a:avLst/>
          </a:prstGeom>
          <a:solidFill>
            <a:srgbClr val="1A2320"/>
          </a:solidFill>
          <a:ln w="9525">
            <a:solidFill>
              <a:srgbClr val="2431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566928"/>
            <a:ext cx="210312" cy="0"/>
          </a:xfrm>
          <a:prstGeom prst="line">
            <a:avLst/>
          </a:prstGeom>
          <a:noFill/>
          <a:ln w="15875">
            <a:solidFill>
              <a:srgbClr val="F2F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" y="667512"/>
            <a:ext cx="210312" cy="0"/>
          </a:xfrm>
          <a:prstGeom prst="line">
            <a:avLst/>
          </a:prstGeom>
          <a:noFill/>
          <a:ln w="15875">
            <a:solidFill>
              <a:srgbClr val="00E0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JIT LIQUIDITY DEFENSE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Decay, not a cliff — verified exact.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same-block add-then-remove is taxed 80% of fees earned (never principal), decaying to 0% by block 10. A hard same-block-only cutoff would let a bot dodge the whole penalty by waiting one extra block.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blocksHeld = block.number − addedAtBlock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54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penaltyBps = MAX × (DECAY − blocksHeld) / DECAY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120640" cy="1280160"/>
          </a:xfrm>
          <a:prstGeom prst="rect">
            <a:avLst/>
          </a:prstGeom>
          <a:solidFill>
            <a:srgbClr val="131A16"/>
          </a:solidFill>
          <a:ln w="12700">
            <a:solidFill>
              <a:srgbClr val="00E0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886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live on Sepolia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18795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position held 2 blocks produced a real, correctly-scaled penalty — confirmed by both the emitted event and a persisting on-chain reserve balance.</a:t>
            </a:r>
            <a:endParaRPr lang="en-US" sz="11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035040" y="1554480"/>
          <a:ext cx="55778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Ballast — UHI10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320040"/>
          </a:xfrm>
          <a:prstGeom prst="rect">
            <a:avLst/>
          </a:prstGeom>
          <a:solidFill>
            <a:srgbClr val="1A2320"/>
          </a:solidFill>
          <a:ln w="9525">
            <a:solidFill>
              <a:srgbClr val="2431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566928"/>
            <a:ext cx="210312" cy="0"/>
          </a:xfrm>
          <a:prstGeom prst="line">
            <a:avLst/>
          </a:prstGeom>
          <a:noFill/>
          <a:ln w="15875">
            <a:solidFill>
              <a:srgbClr val="F2F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" y="667512"/>
            <a:ext cx="210312" cy="0"/>
          </a:xfrm>
          <a:prstGeom prst="line">
            <a:avLst/>
          </a:prstGeom>
          <a:noFill/>
          <a:ln w="15875">
            <a:solidFill>
              <a:srgbClr val="00E0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ORACLE SAFETY — THREE INDEPENDENT LAYERS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OracleGuardian: real trigger to real pause, ~12 seconds.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2377440"/>
            <a:ext cx="1188720" cy="1188720"/>
          </a:xfrm>
          <a:prstGeom prst="ellipse">
            <a:avLst/>
          </a:prstGeom>
          <a:solidFill>
            <a:srgbClr val="131A16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Sepolia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20040" y="3657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change queued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11680" y="2971800"/>
            <a:ext cx="2468880" cy="0"/>
          </a:xfrm>
          <a:prstGeom prst="line">
            <a:avLst/>
          </a:prstGeom>
          <a:noFill/>
          <a:ln w="19050">
            <a:solidFill>
              <a:srgbClr val="00E0A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480560" y="2377440"/>
            <a:ext cx="1188720" cy="1188720"/>
          </a:xfrm>
          <a:prstGeom prst="ellipse">
            <a:avLst/>
          </a:prstGeom>
          <a:solidFill>
            <a:srgbClr val="131A16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Lasna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3657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autonomously — no bot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0" y="2971800"/>
            <a:ext cx="2468880" cy="0"/>
          </a:xfrm>
          <a:prstGeom prst="line">
            <a:avLst/>
          </a:prstGeom>
          <a:noFill/>
          <a:ln w="19050">
            <a:solidFill>
              <a:srgbClr val="00E0A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138160" y="2377440"/>
            <a:ext cx="1188720" cy="1188720"/>
          </a:xfrm>
          <a:prstGeom prst="ellipse">
            <a:avLst/>
          </a:prstGeom>
          <a:solidFill>
            <a:srgbClr val="131A16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3816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Sepolia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3657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callback pauses pool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434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~12s end to end, one block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10515600" cy="1097280"/>
          </a:xfrm>
          <a:prstGeom prst="rect">
            <a:avLst/>
          </a:prstGeom>
          <a:solidFill>
            <a:srgbClr val="1A2320"/>
          </a:solidFill>
          <a:ln w="12700">
            <a:solidFill>
              <a:srgbClr val="2431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349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(Timelock, 24h, always on) and Layer 3 (ZKPriceGuardian, independent zkTLS witness) back this up — no one layer failing is catastrophic alone.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Ballast — UHI10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320040"/>
          </a:xfrm>
          <a:prstGeom prst="rect">
            <a:avLst/>
          </a:prstGeom>
          <a:solidFill>
            <a:srgbClr val="1A2320"/>
          </a:solidFill>
          <a:ln w="9525">
            <a:solidFill>
              <a:srgbClr val="2431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566928"/>
            <a:ext cx="210312" cy="0"/>
          </a:xfrm>
          <a:prstGeom prst="line">
            <a:avLst/>
          </a:prstGeom>
          <a:noFill/>
          <a:ln w="15875">
            <a:solidFill>
              <a:srgbClr val="F2F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" y="667512"/>
            <a:ext cx="210312" cy="0"/>
          </a:xfrm>
          <a:prstGeom prst="line">
            <a:avLst/>
          </a:prstGeom>
          <a:noFill/>
          <a:ln w="15875">
            <a:solidFill>
              <a:srgbClr val="00E0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WITNESS — ZKPRICEGUARDIAN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second oracle. A cryptographic proof.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zkTLS proof (via Reclaim Protocol) verifies a real HTTPS response actually occurred — without trusting whoever relays it. Checked against Chainlink; a divergence ≥5% pauses the pool.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2468880" cy="1463040"/>
          </a:xfrm>
          <a:prstGeom prst="rect">
            <a:avLst/>
          </a:prstGeom>
          <a:solidFill>
            <a:srgbClr val="131A16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$2,422.80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337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zkTLS attested price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2560320"/>
            <a:ext cx="2468880" cy="1463040"/>
          </a:xfrm>
          <a:prstGeom prst="rect">
            <a:avLst/>
          </a:prstGeom>
          <a:solidFill>
            <a:srgbClr val="131A16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8328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$2,436.21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3337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Chainlink, same window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0" y="2560320"/>
            <a:ext cx="2468880" cy="1463040"/>
          </a:xfrm>
          <a:prstGeom prst="rect">
            <a:avLst/>
          </a:prstGeom>
          <a:solidFill>
            <a:srgbClr val="131A16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8076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0.55%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080760" y="3337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divergence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41080" y="2560320"/>
            <a:ext cx="2468880" cy="1463040"/>
          </a:xfrm>
          <a:prstGeom prst="rect">
            <a:avLst/>
          </a:prstGeom>
          <a:solidFill>
            <a:srgbClr val="131A16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7824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5%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0" y="3337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threshold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572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live: a real proof submitted on-chain, checked directly against Chainlink's own live reading in the same transaction — both real numbers, independently checkable right now.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Ballast — UHI10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320040"/>
          </a:xfrm>
          <a:prstGeom prst="rect">
            <a:avLst/>
          </a:prstGeom>
          <a:solidFill>
            <a:srgbClr val="1A2320"/>
          </a:solidFill>
          <a:ln w="9525">
            <a:solidFill>
              <a:srgbClr val="2431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566928"/>
            <a:ext cx="210312" cy="0"/>
          </a:xfrm>
          <a:prstGeom prst="line">
            <a:avLst/>
          </a:prstGeom>
          <a:noFill/>
          <a:ln w="15875">
            <a:solidFill>
              <a:srgbClr val="F2F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" y="667512"/>
            <a:ext cx="210312" cy="0"/>
          </a:xfrm>
          <a:prstGeom prst="line">
            <a:avLst/>
          </a:prstGeom>
          <a:noFill/>
          <a:ln w="15875">
            <a:solidFill>
              <a:srgbClr val="00E0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F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REAL DIFFERENTIATOR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real bugs, found by insisting on live proof.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03520" cy="3017520"/>
          </a:xfrm>
          <a:prstGeom prst="rect">
            <a:avLst/>
          </a:prstGeom>
          <a:solidFill>
            <a:srgbClr val="131A16"/>
          </a:solidFill>
          <a:ln w="15875">
            <a:solidFill>
              <a:srgbClr val="FF7A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Guardian-swap timelock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9748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an active guardian had no timelock — a compromised configurer could disable both oracle guardians before an attack. A test proved the exploit, then proved the fix.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920240"/>
            <a:ext cx="5303520" cy="3017520"/>
          </a:xfrm>
          <a:prstGeom prst="rect">
            <a:avLst/>
          </a:prstGeom>
          <a:solidFill>
            <a:srgbClr val="131A16"/>
          </a:solidFill>
          <a:ln w="15875">
            <a:solidFill>
              <a:srgbClr val="FF7A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2148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receive() for native ETH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69748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local tests used two ERC20s, never ETH. A live JIT demo against a real ETH pool reverted — and found it. Fixed and re-verified live.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257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hookathon README claims correctness. Few show the exploit, the fix, and the live re-verification, in that order.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Ballast — UHI10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320040"/>
          </a:xfrm>
          <a:prstGeom prst="rect">
            <a:avLst/>
          </a:prstGeom>
          <a:solidFill>
            <a:srgbClr val="1A2320"/>
          </a:solidFill>
          <a:ln w="9525">
            <a:solidFill>
              <a:srgbClr val="2431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566928"/>
            <a:ext cx="210312" cy="0"/>
          </a:xfrm>
          <a:prstGeom prst="line">
            <a:avLst/>
          </a:prstGeom>
          <a:noFill/>
          <a:ln w="15875">
            <a:solidFill>
              <a:srgbClr val="F2F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" y="667512"/>
            <a:ext cx="210312" cy="0"/>
          </a:xfrm>
          <a:prstGeom prst="line">
            <a:avLst/>
          </a:prstGeom>
          <a:noFill/>
          <a:ln w="15875">
            <a:solidFill>
              <a:srgbClr val="00E0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NOTHING ASSERTED WITHOUT ITS RECEIPT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here is real and checkable.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120640" cy="1143000"/>
          </a:xfrm>
          <a:prstGeom prst="rect">
            <a:avLst/>
          </a:prstGeom>
          <a:solidFill>
            <a:srgbClr val="131A16"/>
          </a:solidFill>
          <a:ln w="12700">
            <a:solidFill>
              <a:srgbClr val="00E0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8745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114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8745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737360"/>
            <a:ext cx="5120640" cy="1143000"/>
          </a:xfrm>
          <a:prstGeom prst="rect">
            <a:avLst/>
          </a:prstGeom>
          <a:solidFill>
            <a:srgbClr val="131A16"/>
          </a:solidFill>
          <a:ln w="12700">
            <a:solidFill>
              <a:srgbClr val="00E0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8745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384,000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18745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ops, 0 violations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5120640" cy="1143000"/>
          </a:xfrm>
          <a:prstGeom prst="rect">
            <a:avLst/>
          </a:prstGeom>
          <a:solidFill>
            <a:srgbClr val="131A16"/>
          </a:solidFill>
          <a:ln w="12700">
            <a:solidFill>
              <a:srgbClr val="00E0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2461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512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32461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 runs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3108960"/>
            <a:ext cx="5120640" cy="1143000"/>
          </a:xfrm>
          <a:prstGeom prst="rect">
            <a:avLst/>
          </a:prstGeom>
          <a:solidFill>
            <a:srgbClr val="131A16"/>
          </a:solidFill>
          <a:ln w="12700">
            <a:solidFill>
              <a:srgbClr val="00E0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32461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2461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High/Medium findings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846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0.258 ETH → exactly 0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349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sandwich attacker profit, same pool, same attack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4846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on Sepolia + Reactive Lasna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5349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BallastHook, MultiGuardian, ZKPriceGuardian, OracleGuardianCallback + Reactive — every address public and checkable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Ballast — UHI10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320040"/>
          </a:xfrm>
          <a:prstGeom prst="rect">
            <a:avLst/>
          </a:prstGeom>
          <a:solidFill>
            <a:srgbClr val="1A2320"/>
          </a:solidFill>
          <a:ln w="9525">
            <a:solidFill>
              <a:srgbClr val="2431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566928"/>
            <a:ext cx="210312" cy="0"/>
          </a:xfrm>
          <a:prstGeom prst="line">
            <a:avLst/>
          </a:prstGeom>
          <a:noFill/>
          <a:ln w="15875">
            <a:solidFill>
              <a:srgbClr val="F2F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" y="667512"/>
            <a:ext cx="210312" cy="0"/>
          </a:xfrm>
          <a:prstGeom prst="line">
            <a:avLst/>
          </a:prstGeom>
          <a:noFill/>
          <a:ln w="15875">
            <a:solidFill>
              <a:srgbClr val="00E0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FRONTEND — LIVE, NOT SIMULATED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wallet. A real swap. Through the real hook.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the previous slides is provable at the contract level. This closes the loop at the app level: a real MetaMask wallet, on the real deployed frontend, executing a real transaction.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0515600" cy="822960"/>
          </a:xfrm>
          <a:prstGeom prst="rect">
            <a:avLst/>
          </a:prstGeom>
          <a:solidFill>
            <a:srgbClr val="131A16"/>
          </a:solidFill>
          <a:ln w="12700">
            <a:solidFill>
              <a:srgbClr val="00E0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3774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0xc9848f4f...640b56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2377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 ETH swapped, block 11617452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10515600" cy="822960"/>
          </a:xfrm>
          <a:prstGeom prst="rect">
            <a:avLst/>
          </a:prstGeom>
          <a:solidFill>
            <a:srgbClr val="131A16"/>
          </a:solidFill>
          <a:ln w="12700">
            <a:solidFill>
              <a:srgbClr val="00E0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3832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0x59779ec6...950851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33832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 ETH swapped, block 11614629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572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Independently decoded, twice: the real inner call target, value, and function selector all match our real SwapRouter — confirmed directly from each transaction's own data, not asserted.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Ballast — UHI10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20040" cy="320040"/>
          </a:xfrm>
          <a:prstGeom prst="rect">
            <a:avLst/>
          </a:prstGeom>
          <a:solidFill>
            <a:srgbClr val="1A2320"/>
          </a:solidFill>
          <a:ln w="9525">
            <a:solidFill>
              <a:srgbClr val="2431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658368"/>
            <a:ext cx="210312" cy="0"/>
          </a:xfrm>
          <a:prstGeom prst="line">
            <a:avLst/>
          </a:prstGeom>
          <a:noFill/>
          <a:ln w="15875">
            <a:solidFill>
              <a:srgbClr val="F2F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" y="758952"/>
            <a:ext cx="210312" cy="0"/>
          </a:xfrm>
          <a:prstGeom prst="line">
            <a:avLst/>
          </a:prstGeom>
          <a:noFill/>
          <a:ln w="15875">
            <a:solidFill>
              <a:srgbClr val="00E0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377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math, or just launch it.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Ballast — Uniswap v4 hook, UHI10 fair-flow track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GitHub: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github.com/dny-777/ballast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00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app: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4800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ballast-brown.vercel.app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303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Docs: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into the app itself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2026-09-02T10:25:37Z</dcterms:created>
  <dcterms:modified xsi:type="dcterms:W3CDTF">2026-09-02T10:25:37Z</dcterms:modified>
</cp:coreProperties>
</file>